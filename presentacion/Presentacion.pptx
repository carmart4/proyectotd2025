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8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1" r:id="rId15"/>
    <p:sldId id="282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65F"/>
    <a:srgbClr val="7FCA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1B80E0-2FA0-4660-8D5F-4F957D0CB245}" type="datetimeFigureOut">
              <a:rPr lang="es-ES" smtClean="0"/>
              <a:t>13/05/2025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83362-505C-4A16-9E65-761B39B9C0B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993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83362-505C-4A16-9E65-761B39B9C0B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7088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18E7C-70AD-97FD-7D4D-59859D362C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9C4E19-1498-5E8D-BF2B-9541A0D51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E121BF-F73C-3A3D-36F4-4DC35CED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AB0B-222F-4DB0-ADC9-B2167430BF50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7FD066-6238-C2BD-E18C-E96E280DF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991940-C2F5-7E8B-9DA7-8741A7BD7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0569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40348251-415C-C771-47E6-D0AC3DE8D5CE}"/>
              </a:ext>
            </a:extLst>
          </p:cNvPr>
          <p:cNvSpPr/>
          <p:nvPr userDrawn="1"/>
        </p:nvSpPr>
        <p:spPr>
          <a:xfrm>
            <a:off x="685800" y="6171520"/>
            <a:ext cx="11506200" cy="685799"/>
          </a:xfrm>
          <a:prstGeom prst="rect">
            <a:avLst/>
          </a:prstGeom>
          <a:solidFill>
            <a:srgbClr val="0096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88E0528-A43F-6CEE-340F-D47471108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64C1BC-5826-71EA-CB7C-B1C7EBBD5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E4A5ED-DC67-ED70-878B-3871D48F1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03AE7-BB3E-48DA-89E5-0943B3B46801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B20C35-4C00-596C-115C-9BB34C4B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lang="es-ES" sz="1600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s-ES" dirty="0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8C6AA9-3279-D7F8-1B6B-FA7F2812F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7CCFD16-40BC-4790-95C3-D9FCA59BD7C9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8" name="Imagen 7" descr="Icono&#10;&#10;El contenido generado por IA puede ser incorrecto.">
            <a:extLst>
              <a:ext uri="{FF2B5EF4-FFF2-40B4-BE49-F238E27FC236}">
                <a16:creationId xmlns:a16="http://schemas.microsoft.com/office/drawing/2014/main" id="{9402BA58-E8C3-C476-E026-A066519021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722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97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B12C65-D590-1A34-7201-25817A799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7ADA8A2-6CCA-A1BD-9EC4-77C96D356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701681-E367-ACFD-D0D5-6329EDD18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AA296-26B6-48CC-B5E2-ED5B7F74E46E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0BC641-1F97-A9A8-0C47-88903E5D7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644DFC-C471-BBF9-A6E4-3BDEA0E85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6781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4E7C06-CE72-A44D-E37F-22F0D10D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3412DC-3EF2-DC74-983A-3F136E8FAE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153080-1657-1204-3615-D55B425506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E3F53F-B8E3-6A56-D88D-68DBDA1CF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0FE526-78A4-45FE-85D2-48F854AC25EB}" type="datetime1">
              <a:rPr lang="es-ES" smtClean="0"/>
              <a:t>13/05/2025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5697F8E-0996-8020-5669-ABA105AD7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AD1826-2E27-7BAF-CC98-165DE2811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844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663BCD-CD0E-55C4-7254-14A46EC0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09D7557-278A-0634-A362-F690F980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D528B4-B72A-FA6D-7E25-B4432A036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612F0CA-7A30-F6CE-1802-00647EE1C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E2F70E5-ACDA-82C1-F616-05495A0E7D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B8A1463-9857-58AC-C775-EA79DD25E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F1B9E-ED96-402A-A0A5-D7D0129D2590}" type="datetime1">
              <a:rPr lang="es-ES" smtClean="0"/>
              <a:t>13/05/2025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E8F2B19-9549-0857-6CBE-F5A586F67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288FBE-4123-3BCA-776D-073BE09C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5473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50AAA5-93DF-9421-D87C-EB9D0919D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227C65B-7492-9CE5-7F69-211CA2C38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D918A-A1FA-4CF3-84F4-FBACE0E64B02}" type="datetime1">
              <a:rPr lang="es-ES" smtClean="0"/>
              <a:t>13/05/2025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6DA274F-E5D1-5FA5-B5BD-401BA16F1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09A6B-170D-8AF9-27DC-45711A69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31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E023DE5-4DD1-6010-01EC-D2839B573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D7788-CE1E-44AD-B7D7-1BC7EC977E65}" type="datetime1">
              <a:rPr lang="es-ES" smtClean="0"/>
              <a:t>13/05/2025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9A6E64-9A3D-4AC3-DD5C-56D063357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CFE703-FAA9-31C0-3F9B-9A51D511F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7435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ED7FDA-F5CC-B2C5-1DE5-907FABA8B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BFC2EA-EBBB-34B5-A342-0E87F4F13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0DAB9F-ACEE-2514-F3C4-23AABBEC54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155D29C-0A5B-3568-44B2-F776781B9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4CFBC-9A35-472A-8EFF-AD55C9488815}" type="datetime1">
              <a:rPr lang="es-ES" smtClean="0"/>
              <a:t>13/05/2025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4BA3C0D-1EE0-368B-CBA9-B99C2966C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90E135-DF49-28E0-23B9-99A3D3185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650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9599D7-4A79-A6C7-8526-0F0B65A7A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C130BB-3E71-8D64-F83C-5275096F5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FDAA28-DB47-C126-C9E2-C239161558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125E871-F7F1-B6C7-876F-5499859D6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9474E-732D-47ED-88BE-733A0AC2EA6B}" type="datetime1">
              <a:rPr lang="es-ES" smtClean="0"/>
              <a:t>13/05/2025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C50BFD-7D59-5D3B-A745-47CBB1629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B4B705-1466-03E1-92E4-6963A485B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163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8AE1C1-6BCA-8DB1-D188-E8CF46DE1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5511A16-7F9B-31DA-0E68-800F7C5E4A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0B86C1-48C6-7CDC-305D-18281845B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1A03F-1140-4EC3-825A-64621D76B6D4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CCE3B5-6E71-4D10-4623-66CDA05D0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2F5388-956E-1ED5-CD14-CDFEA13CA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9303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8703B30-BBB1-78A4-A7E6-A496DB646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88E514F-C2F1-72BB-36DB-EBC56106C5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D56835-50E6-CE52-A6DA-AFBD0CF75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3F48-89E8-499E-831F-03DB54D9BBB5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EC484CF-7638-317A-03C9-E4E93825C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2B8714-FF49-69FA-9AE9-E69678BA2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6308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B0FF44C-7C1D-7F11-DDB3-009E3F340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DEC52A-DBC6-287E-1E38-8EAFD2B788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27D6F8-34A1-4EE9-8A50-306807961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B8964-A04A-4168-BCAC-72BBFA244AE7}" type="datetime1">
              <a:rPr lang="es-ES" smtClean="0"/>
              <a:t>13/05/2025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CD0BCA-A6F1-F771-9F08-84BDA1EE3F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s-ES"/>
              <a:t>Mini Proyecto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554458-37B8-25E2-5606-01141FE51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CFD16-40BC-4790-95C3-D9FCA59BD7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2983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>
            <a:extLst>
              <a:ext uri="{FF2B5EF4-FFF2-40B4-BE49-F238E27FC236}">
                <a16:creationId xmlns:a16="http://schemas.microsoft.com/office/drawing/2014/main" id="{2954E580-DF5F-3475-2A34-FB3BB40B1565}"/>
              </a:ext>
            </a:extLst>
          </p:cNvPr>
          <p:cNvGrpSpPr/>
          <p:nvPr/>
        </p:nvGrpSpPr>
        <p:grpSpPr>
          <a:xfrm>
            <a:off x="501543" y="1894114"/>
            <a:ext cx="11179629" cy="1940687"/>
            <a:chOff x="0" y="2348282"/>
            <a:chExt cx="12192000" cy="2161435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9BE5D4D2-8094-16F3-A455-40D7E5C08C04}"/>
                </a:ext>
              </a:extLst>
            </p:cNvPr>
            <p:cNvSpPr/>
            <p:nvPr/>
          </p:nvSpPr>
          <p:spPr>
            <a:xfrm>
              <a:off x="2161435" y="2767279"/>
              <a:ext cx="10030565" cy="1336863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419" sz="7200" b="1" dirty="0">
                  <a:ln w="22225">
                    <a:solidFill>
                      <a:srgbClr val="00965F"/>
                    </a:solidFill>
                    <a:prstDash val="solid"/>
                  </a:ln>
                  <a:solidFill>
                    <a:srgbClr val="00965F"/>
                  </a:solidFill>
                  <a:latin typeface="Cooper Black" panose="020F0502020204030204" pitchFamily="18" charset="0"/>
                </a:rPr>
                <a:t>MINI PROYECTO</a:t>
              </a:r>
              <a:endParaRPr lang="es-ES" sz="72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endParaRPr>
            </a:p>
          </p:txBody>
        </p:sp>
        <p:pic>
          <p:nvPicPr>
            <p:cNvPr id="13" name="Imagen 12" descr="Icono&#10;&#10;El contenido generado por IA puede ser incorrecto.">
              <a:extLst>
                <a:ext uri="{FF2B5EF4-FFF2-40B4-BE49-F238E27FC236}">
                  <a16:creationId xmlns:a16="http://schemas.microsoft.com/office/drawing/2014/main" id="{FCA3365E-770C-D809-B337-D38AD7878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348282"/>
              <a:ext cx="2161435" cy="2161435"/>
            </a:xfrm>
            <a:prstGeom prst="rect">
              <a:avLst/>
            </a:prstGeom>
          </p:spPr>
        </p:pic>
      </p:grpSp>
      <p:sp>
        <p:nvSpPr>
          <p:cNvPr id="17" name="Rectangle 1">
            <a:extLst>
              <a:ext uri="{FF2B5EF4-FFF2-40B4-BE49-F238E27FC236}">
                <a16:creationId xmlns:a16="http://schemas.microsoft.com/office/drawing/2014/main" id="{09A3703C-0E5F-D442-4AD3-FAD35C1D28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7261" y="4188849"/>
            <a:ext cx="2068194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Neus Ferrer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Marta Navarro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Alba Rodríguez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Mohammed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Aissa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Héctor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Balbastre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Joan Ruiz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Santiago Martinez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83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38377CD-7F5C-8770-A3A5-BB7BD667B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Mini Proyecto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B9C6C5-6230-0CD0-390A-DF2E98E0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2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C607BB8-92C8-AD87-4D35-40C00878FCEE}"/>
              </a:ext>
            </a:extLst>
          </p:cNvPr>
          <p:cNvSpPr/>
          <p:nvPr/>
        </p:nvSpPr>
        <p:spPr>
          <a:xfrm>
            <a:off x="1" y="647803"/>
            <a:ext cx="6095999" cy="894735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lang="es-419" sz="5000" b="1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latin typeface="Cooper Black" panose="020F0502020204030204" pitchFamily="18" charset="0"/>
              </a:rPr>
              <a:t>ÍNDICE</a:t>
            </a:r>
            <a:endParaRPr lang="es-ES" sz="5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A9D05B7-8148-970C-C22D-167BC79EC1FA}"/>
              </a:ext>
            </a:extLst>
          </p:cNvPr>
          <p:cNvSpPr txBox="1"/>
          <p:nvPr/>
        </p:nvSpPr>
        <p:spPr>
          <a:xfrm>
            <a:off x="1246238" y="2228671"/>
            <a:ext cx="484976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Introducción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Análisis ticket </a:t>
            </a:r>
          </a:p>
          <a:p>
            <a:pPr marL="342900" indent="-342900">
              <a:buFont typeface="+mj-lt"/>
              <a:buAutoNum type="arabicPeriod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Análisis productos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Preguntas planteadas</a:t>
            </a:r>
          </a:p>
          <a:p>
            <a:pPr marL="342900" indent="-342900">
              <a:buFont typeface="+mj-lt"/>
              <a:buAutoNum type="arabicPeriod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Conclusiones</a:t>
            </a:r>
          </a:p>
        </p:txBody>
      </p:sp>
      <p:pic>
        <p:nvPicPr>
          <p:cNvPr id="2" name="Marcador de contenido 10" descr="Texto&#10;&#10;El contenido generado por IA puede ser incorrecto.">
            <a:extLst>
              <a:ext uri="{FF2B5EF4-FFF2-40B4-BE49-F238E27FC236}">
                <a16:creationId xmlns:a16="http://schemas.microsoft.com/office/drawing/2014/main" id="{1A61C779-4431-EED7-EFD8-D203E26E93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807" y="647803"/>
            <a:ext cx="5154562" cy="5150593"/>
          </a:xfrm>
        </p:spPr>
      </p:pic>
    </p:spTree>
    <p:extLst>
      <p:ext uri="{BB962C8B-B14F-4D97-AF65-F5344CB8AC3E}">
        <p14:creationId xmlns:p14="http://schemas.microsoft.com/office/powerpoint/2010/main" val="336396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A3AB84F-FC0E-79ED-2AA2-CCF2B4172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4EF5044-A1DD-0A16-78FB-64AFC25C1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3</a:t>
            </a:fld>
            <a:endParaRPr lang="es-ES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C7755DD-11A3-785E-0DC9-A86054158ABF}"/>
              </a:ext>
            </a:extLst>
          </p:cNvPr>
          <p:cNvSpPr/>
          <p:nvPr/>
        </p:nvSpPr>
        <p:spPr>
          <a:xfrm>
            <a:off x="0" y="0"/>
            <a:ext cx="6096000" cy="894735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lang="es-419" sz="5000" b="1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latin typeface="Cooper Black" panose="020F0502020204030204" pitchFamily="18" charset="0"/>
              </a:rPr>
              <a:t>INTRODUCCIÓN</a:t>
            </a:r>
            <a:endParaRPr lang="es-ES" sz="5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pic>
        <p:nvPicPr>
          <p:cNvPr id="12" name="Imagen 11" descr="Imagen de la pantalla de un celular con texto&#10;&#10;El contenido generado por IA puede ser incorrecto.">
            <a:extLst>
              <a:ext uri="{FF2B5EF4-FFF2-40B4-BE49-F238E27FC236}">
                <a16:creationId xmlns:a16="http://schemas.microsoft.com/office/drawing/2014/main" id="{E3283573-B335-1108-03E0-C56AB21491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822"/>
          <a:stretch/>
        </p:blipFill>
        <p:spPr>
          <a:xfrm>
            <a:off x="4981414" y="1038963"/>
            <a:ext cx="2229172" cy="4780073"/>
          </a:xfrm>
          <a:prstGeom prst="rect">
            <a:avLst/>
          </a:prstGeom>
        </p:spPr>
      </p:pic>
      <p:sp>
        <p:nvSpPr>
          <p:cNvPr id="13" name="Elipse 12">
            <a:extLst>
              <a:ext uri="{FF2B5EF4-FFF2-40B4-BE49-F238E27FC236}">
                <a16:creationId xmlns:a16="http://schemas.microsoft.com/office/drawing/2014/main" id="{D3323FC7-F01E-B079-6494-F12DCAFB6759}"/>
              </a:ext>
            </a:extLst>
          </p:cNvPr>
          <p:cNvSpPr/>
          <p:nvPr/>
        </p:nvSpPr>
        <p:spPr>
          <a:xfrm>
            <a:off x="5096256" y="1481328"/>
            <a:ext cx="1999488" cy="7132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Abrir llave 13">
            <a:extLst>
              <a:ext uri="{FF2B5EF4-FFF2-40B4-BE49-F238E27FC236}">
                <a16:creationId xmlns:a16="http://schemas.microsoft.com/office/drawing/2014/main" id="{7971F626-14A4-28DC-311E-DA455A290168}"/>
              </a:ext>
            </a:extLst>
          </p:cNvPr>
          <p:cNvSpPr/>
          <p:nvPr/>
        </p:nvSpPr>
        <p:spPr>
          <a:xfrm>
            <a:off x="4590288" y="2487168"/>
            <a:ext cx="505968" cy="254203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BC280D7E-2BD7-8EC2-DCD9-9C52053D2202}"/>
              </a:ext>
            </a:extLst>
          </p:cNvPr>
          <p:cNvSpPr/>
          <p:nvPr/>
        </p:nvSpPr>
        <p:spPr>
          <a:xfrm>
            <a:off x="5961888" y="4962144"/>
            <a:ext cx="1248698" cy="4145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7FDE6D4-A0AE-D1D3-13E3-486F74E08CA6}"/>
              </a:ext>
            </a:extLst>
          </p:cNvPr>
          <p:cNvSpPr txBox="1"/>
          <p:nvPr/>
        </p:nvSpPr>
        <p:spPr>
          <a:xfrm>
            <a:off x="8153400" y="1330113"/>
            <a:ext cx="2930012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Procedencia de los tickets</a:t>
            </a:r>
          </a:p>
          <a:p>
            <a:pPr algn="ctr"/>
            <a:endParaRPr lang="es-419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34 tiendas</a:t>
            </a:r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8BFD5FA-40F5-485C-6AC4-E04DA0622FB1}"/>
              </a:ext>
            </a:extLst>
          </p:cNvPr>
          <p:cNvSpPr txBox="1"/>
          <p:nvPr/>
        </p:nvSpPr>
        <p:spPr>
          <a:xfrm>
            <a:off x="907713" y="2634800"/>
            <a:ext cx="3136490" cy="224676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Identificación de productos</a:t>
            </a:r>
          </a:p>
          <a:p>
            <a:pPr algn="ctr"/>
            <a:endParaRPr lang="es-419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Productos unitarios</a:t>
            </a:r>
          </a:p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Productos peso (pescado)</a:t>
            </a:r>
          </a:p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Productos peso (frutas)</a:t>
            </a:r>
          </a:p>
          <a:p>
            <a:pPr algn="ctr"/>
            <a:endParaRPr lang="es-419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4807 productos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A700CDD-AE0F-D450-4F91-BAB022E2C1F6}"/>
              </a:ext>
            </a:extLst>
          </p:cNvPr>
          <p:cNvSpPr txBox="1"/>
          <p:nvPr/>
        </p:nvSpPr>
        <p:spPr>
          <a:xfrm>
            <a:off x="8153400" y="4507689"/>
            <a:ext cx="2930012" cy="132343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Importe pagado - Forma de pago</a:t>
            </a:r>
          </a:p>
          <a:p>
            <a:pPr algn="ctr"/>
            <a:endParaRPr lang="es-419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419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Todos con tarjeta</a:t>
            </a:r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4407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7" grpId="0"/>
      <p:bldP spid="18" grpId="0"/>
      <p:bldP spid="1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DF7CF0-1F76-FBC7-863A-B8F88C406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619FCD-55A0-EE63-4D51-5BD4F9C23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4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0A24AE2-AA2D-1B7E-42CD-1DD07419A621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FCF643-7C92-3952-C93F-4F7A2A52F53B}"/>
              </a:ext>
            </a:extLst>
          </p:cNvPr>
          <p:cNvSpPr txBox="1"/>
          <p:nvPr/>
        </p:nvSpPr>
        <p:spPr>
          <a:xfrm>
            <a:off x="0" y="707886"/>
            <a:ext cx="121920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 es la procedencia de los tickets? ¿Qué ciudad/pueblo tiene un mayor número de tickets?</a:t>
            </a:r>
          </a:p>
        </p:txBody>
      </p:sp>
      <p:pic>
        <p:nvPicPr>
          <p:cNvPr id="12" name="Imagen 11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E786C255-A32C-896C-130A-E28D0AB42D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94" y="1391608"/>
            <a:ext cx="4564632" cy="4564632"/>
          </a:xfrm>
          <a:prstGeom prst="rect">
            <a:avLst/>
          </a:prstGeom>
        </p:spPr>
      </p:pic>
      <p:pic>
        <p:nvPicPr>
          <p:cNvPr id="14" name="Imagen 13" descr="Aplicación&#10;&#10;El contenido generado por IA puede ser incorrecto.">
            <a:extLst>
              <a:ext uri="{FF2B5EF4-FFF2-40B4-BE49-F238E27FC236}">
                <a16:creationId xmlns:a16="http://schemas.microsoft.com/office/drawing/2014/main" id="{28F48480-C460-6F47-A525-B635E6D8A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275" y="2043112"/>
            <a:ext cx="4581525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60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39C-1742-2629-CA4F-684497118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C03F0B-101E-BFC2-12E7-9B5746FB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A16AAAA-2814-E6EC-4E35-26699EE14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5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289D0F3-98C4-DD26-F6D6-6F9677F96488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8A43B42-80EE-3A58-9EB5-9326B693F631}"/>
              </a:ext>
            </a:extLst>
          </p:cNvPr>
          <p:cNvSpPr txBox="1"/>
          <p:nvPr/>
        </p:nvSpPr>
        <p:spPr>
          <a:xfrm>
            <a:off x="0" y="553998"/>
            <a:ext cx="121920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Muestra mediante un diagrama el número de tickets recogidos cada día de las semanas. </a:t>
            </a:r>
          </a:p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¿Si tuvieses que cerrar un día entre semana qué día lo harías?</a:t>
            </a:r>
          </a:p>
        </p:txBody>
      </p:sp>
      <p:pic>
        <p:nvPicPr>
          <p:cNvPr id="8" name="Imagen 7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67DDF4A0-7D75-59FD-8540-F289B1CFD0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395" y="1488704"/>
            <a:ext cx="7637209" cy="464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45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F2C4B-3C1E-7307-254D-568F2350D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4237D3B-67FB-7FF3-86EF-78CFBBCA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0F5BAF-1C72-40CA-62F3-D91864358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6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67DF40-E3EB-3ABE-B139-35A31BE5E16F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B0005ED-B57A-7259-C5A5-171AFB496A42}"/>
              </a:ext>
            </a:extLst>
          </p:cNvPr>
          <p:cNvSpPr txBox="1"/>
          <p:nvPr/>
        </p:nvSpPr>
        <p:spPr>
          <a:xfrm>
            <a:off x="0" y="707886"/>
            <a:ext cx="121920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 es el número promedio de </a:t>
            </a:r>
            <a:r>
              <a:rPr lang="es-E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tiquets</a:t>
            </a:r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 hora y el gasto promedio por compra, según el día y la hora?</a:t>
            </a:r>
          </a:p>
        </p:txBody>
      </p:sp>
      <p:pic>
        <p:nvPicPr>
          <p:cNvPr id="3" name="Imagen 2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10BED06-0D8C-B129-ECAB-79F5A31CA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421" y="1212170"/>
            <a:ext cx="6585158" cy="486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251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20D71-7F1E-CA9A-FBE7-3D041AEC1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48F1C2-FE5F-512D-4117-8F42C58A5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5FF3EE8-7B1E-5A90-68DB-E2397682A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7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1CD47B-3BAB-BE40-0076-E4507CF415E3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51AEAEE-06D6-89F1-9E44-45F0625FF6C3}"/>
              </a:ext>
            </a:extLst>
          </p:cNvPr>
          <p:cNvSpPr txBox="1"/>
          <p:nvPr/>
        </p:nvSpPr>
        <p:spPr>
          <a:xfrm>
            <a:off x="0" y="707886"/>
            <a:ext cx="121920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¿Qué patrones de compra se observan hacia inicio/fin de mes? ¿Cuántas compras incluyen parking?</a:t>
            </a:r>
          </a:p>
        </p:txBody>
      </p:sp>
      <p:pic>
        <p:nvPicPr>
          <p:cNvPr id="8" name="Imagen 7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13FD71E3-2C24-ED51-8626-967B7A714D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058" y="1271650"/>
            <a:ext cx="4787084" cy="478708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DA892EB-9D2F-BBEE-F028-C628BE1CB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019" y="2814552"/>
            <a:ext cx="1867161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851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910DD-A2EC-1455-8829-CDB3325E1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68F4811-3156-8EC4-D705-70079E724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B148891-3581-FC1C-EDD4-CF6BB920C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8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8B96C2B-EDBD-D775-8974-3691DB488422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AB67E76-BA0D-51AA-FCEA-C04E9E0ED434}"/>
              </a:ext>
            </a:extLst>
          </p:cNvPr>
          <p:cNvSpPr txBox="1"/>
          <p:nvPr/>
        </p:nvSpPr>
        <p:spPr>
          <a:xfrm>
            <a:off x="0" y="553998"/>
            <a:ext cx="121920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¿Cuáles son los 5 productos, de los vendidos por unidades, con más ventas? </a:t>
            </a:r>
          </a:p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¿Cuántas unidades de cada uno se han vendido?</a:t>
            </a:r>
          </a:p>
        </p:txBody>
      </p:sp>
      <p:pic>
        <p:nvPicPr>
          <p:cNvPr id="3" name="Imagen 2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DEF774F6-C97E-5C44-089D-53B4A6551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7781" y="1375371"/>
            <a:ext cx="4626083" cy="4626083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920197C-734F-343C-62C6-630EDDB53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289" y="1953279"/>
            <a:ext cx="4837931" cy="295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16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92DC-0667-5827-836C-7906CD2A8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C0C62CF-9DDC-EDB1-593A-A2FA1FFD9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6251369-98AB-D93F-D2EF-20BDBFE9D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9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08D4B0A-5C5A-6E09-B2B6-A45C976AF3BF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B0E7D5C-4367-6B58-1BB0-A06468A6B88F}"/>
              </a:ext>
            </a:extLst>
          </p:cNvPr>
          <p:cNvSpPr txBox="1"/>
          <p:nvPr/>
        </p:nvSpPr>
        <p:spPr>
          <a:xfrm>
            <a:off x="0" y="707886"/>
            <a:ext cx="121920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¿Qué combinaciones de productos se compran con mayor frecuencia en una misma factura?</a:t>
            </a:r>
          </a:p>
        </p:txBody>
      </p:sp>
      <p:pic>
        <p:nvPicPr>
          <p:cNvPr id="3" name="Imagen 2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CDF86E0A-2606-CFD3-29A2-EFA18665A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554" y="1341513"/>
            <a:ext cx="4714573" cy="4714573"/>
          </a:xfrm>
          <a:prstGeom prst="rect">
            <a:avLst/>
          </a:prstGeom>
        </p:spPr>
      </p:pic>
      <p:pic>
        <p:nvPicPr>
          <p:cNvPr id="8" name="Imagen 7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79A34736-E211-71ED-8602-B868279BB9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43" y="2038350"/>
            <a:ext cx="5353050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197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391F7-D766-1782-7834-90A4581E1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7B7A852-CF77-880C-A8B2-73BCFE7E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99808B0-14F9-DAA8-82D4-E55EA1ACC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10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CEA1EB8-10F4-DE2B-828C-E1C8367F6625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07FA8C0-2EF9-7B93-373C-90551CB5D5DF}"/>
              </a:ext>
            </a:extLst>
          </p:cNvPr>
          <p:cNvSpPr txBox="1"/>
          <p:nvPr/>
        </p:nvSpPr>
        <p:spPr>
          <a:xfrm>
            <a:off x="0" y="553998"/>
            <a:ext cx="121920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 consideramos la categoría de FRUTAS Y VERDURAS, </a:t>
            </a:r>
          </a:p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¿Cuáles son los 5 productos más vendidos? ¿Cuántos kilos se han vendido de cada uno de estos productos?</a:t>
            </a:r>
          </a:p>
        </p:txBody>
      </p:sp>
      <p:pic>
        <p:nvPicPr>
          <p:cNvPr id="3" name="Imagen 2" descr="Gráfico, Gráfico de embudo&#10;&#10;El contenido generado por IA puede ser incorrecto.">
            <a:extLst>
              <a:ext uri="{FF2B5EF4-FFF2-40B4-BE49-F238E27FC236}">
                <a16:creationId xmlns:a16="http://schemas.microsoft.com/office/drawing/2014/main" id="{6CEAC340-7BB6-E628-060F-860E9A9FCE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61" y="1594398"/>
            <a:ext cx="4429438" cy="4429438"/>
          </a:xfrm>
          <a:prstGeom prst="rect">
            <a:avLst/>
          </a:prstGeom>
        </p:spPr>
      </p:pic>
      <p:pic>
        <p:nvPicPr>
          <p:cNvPr id="8" name="Imagen 7" descr="Interfaz de usuario gráfica, Aplicación, Teams&#10;&#10;El contenido generado por IA puede ser incorrecto.">
            <a:extLst>
              <a:ext uri="{FF2B5EF4-FFF2-40B4-BE49-F238E27FC236}">
                <a16:creationId xmlns:a16="http://schemas.microsoft.com/office/drawing/2014/main" id="{0B209E94-6B91-DA2B-F798-4BFF865FCB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412" y="2043112"/>
            <a:ext cx="4524375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698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FA5B9-719D-72B7-4CE8-6C037A81F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3C3676-BED4-96EC-B9E5-194F20D28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2E7E31C-82F3-73F8-E3C2-F479AD68C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11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B25BBC-23B2-135C-FC23-3BF115E53B76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3B8F456-DAEB-4DE4-6076-0B3F3A469723}"/>
              </a:ext>
            </a:extLst>
          </p:cNvPr>
          <p:cNvSpPr txBox="1"/>
          <p:nvPr/>
        </p:nvSpPr>
        <p:spPr>
          <a:xfrm>
            <a:off x="0" y="707886"/>
            <a:ext cx="121920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/>
            <a:r>
              <a:rPr lang="es-ES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¿Qué productos mantienen un volumen de ventas estable, independientemente de cambios en su precio unitario?</a:t>
            </a:r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n 2" descr="Imagen que contiene perro, con baldosas&#10;&#10;El contenido generado por IA puede ser incorrecto.">
            <a:extLst>
              <a:ext uri="{FF2B5EF4-FFF2-40B4-BE49-F238E27FC236}">
                <a16:creationId xmlns:a16="http://schemas.microsoft.com/office/drawing/2014/main" id="{A04C7BD5-F229-5E48-C7C1-33C7F7CAA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509" y="1302533"/>
            <a:ext cx="10082981" cy="4560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615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FDD0-2098-E00D-DB6F-1A778DBAB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52D6EF-6199-C3D4-41D9-F324B10A3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86C77AF-DE46-EC72-81B2-FAD4BB6C6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12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83DD972-EEF7-9246-5FC6-3104658DBC89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55CDA06-B821-02A0-7897-ACCFF2FF84CD}"/>
              </a:ext>
            </a:extLst>
          </p:cNvPr>
          <p:cNvSpPr txBox="1"/>
          <p:nvPr/>
        </p:nvSpPr>
        <p:spPr>
          <a:xfrm>
            <a:off x="0" y="553998"/>
            <a:ext cx="121920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 consideramos la categoría de PESCADO, </a:t>
            </a:r>
          </a:p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¿Cuáles son los 5 productos más vendidos? ¿Cuántos kilos se han vendido de cada uno de estos productos?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75BB63D-7EB6-172C-D21F-273832498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829" y="2110480"/>
            <a:ext cx="9054342" cy="263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804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E59CB-5B2F-1CF8-24DF-D6D027EB3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30E21CE-2A88-FEB2-8462-A40C4560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Mini Proyecto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F9C8C07-5DCA-F620-B80D-261DF90DF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13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A3677D2-9679-0DCC-B69D-40460105043C}"/>
              </a:ext>
            </a:extLst>
          </p:cNvPr>
          <p:cNvSpPr/>
          <p:nvPr/>
        </p:nvSpPr>
        <p:spPr>
          <a:xfrm>
            <a:off x="0" y="0"/>
            <a:ext cx="9350477" cy="707886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r>
              <a:rPr lang="es-419" sz="4000" b="1" cap="none" spc="0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effectLst/>
                <a:latin typeface="Cooper Black" panose="020F0502020204030204" pitchFamily="18" charset="0"/>
              </a:rPr>
              <a:t>PREGUNTAS PLANTEADAS</a:t>
            </a:r>
            <a:endParaRPr lang="es-ES" sz="4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5FE9750-FCD4-43CB-4933-31118D84AFB2}"/>
              </a:ext>
            </a:extLst>
          </p:cNvPr>
          <p:cNvSpPr txBox="1"/>
          <p:nvPr/>
        </p:nvSpPr>
        <p:spPr>
          <a:xfrm>
            <a:off x="0" y="553998"/>
            <a:ext cx="121920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Muestra mediante un gráfico de líneas como ha variado el precio por kilo de las bananas y los plátanos en los tickets disponibles, a lo largo del tiempo.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1E094151-5599-45E2-7FFC-706EE83E0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7445" y="1490901"/>
            <a:ext cx="6617109" cy="431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150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FB5E7-D9DB-07CA-2DBE-965899DE4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6D77D-AD68-CF6F-2E99-D901398F5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Mini Proyecto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C70395E-1F0D-17DB-C045-E2AD9215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14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122605C-807B-80A4-E840-9C1EB0BDA3B5}"/>
              </a:ext>
            </a:extLst>
          </p:cNvPr>
          <p:cNvSpPr/>
          <p:nvPr/>
        </p:nvSpPr>
        <p:spPr>
          <a:xfrm>
            <a:off x="1" y="647803"/>
            <a:ext cx="6095999" cy="894735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lang="es-419" sz="5000" b="1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latin typeface="Cooper Black" panose="020F0502020204030204" pitchFamily="18" charset="0"/>
              </a:rPr>
              <a:t>CONCLUSIONES</a:t>
            </a:r>
            <a:endParaRPr lang="es-ES" sz="5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361DFA-BCB6-89A8-8D11-954826817572}"/>
              </a:ext>
            </a:extLst>
          </p:cNvPr>
          <p:cNvSpPr txBox="1"/>
          <p:nvPr/>
        </p:nvSpPr>
        <p:spPr>
          <a:xfrm>
            <a:off x="1246238" y="2228671"/>
            <a:ext cx="101075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Hábitos de consumo 💰</a:t>
            </a:r>
          </a:p>
          <a:p>
            <a:pPr marL="342900" indent="-342900">
              <a:buFontTx/>
              <a:buChar char="-"/>
            </a:pPr>
            <a:r>
              <a:rPr lang="es-E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Variaciones en precios unitarios por producto 📈</a:t>
            </a:r>
          </a:p>
          <a:p>
            <a:pPr marL="342900" indent="-342900">
              <a:buFontTx/>
              <a:buChar char="-"/>
            </a:pPr>
            <a:r>
              <a:rPr lang="es-E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Patrones de compra</a:t>
            </a:r>
          </a:p>
          <a:p>
            <a:pPr marL="342900" indent="-342900">
              <a:buFontTx/>
              <a:buChar char="-"/>
            </a:pPr>
            <a:r>
              <a:rPr lang="es-419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Estrategias de ahorro personal 📊 </a:t>
            </a:r>
            <a:endParaRPr lang="es-E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4536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41BBC-FCB7-1A3F-26E9-6DF50D2AB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E008C3C-0DD8-8074-F899-8ACE91D2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Mini Proyecto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7C0F9BA-2E17-73D1-74DA-763C93FC8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CFD16-40BC-4790-95C3-D9FCA59BD7C9}" type="slidenum">
              <a:rPr lang="es-ES" smtClean="0"/>
              <a:pPr/>
              <a:t>15</a:t>
            </a:fld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9CF6696-5FEC-5B2C-3A99-6F1BCA6CA4E2}"/>
              </a:ext>
            </a:extLst>
          </p:cNvPr>
          <p:cNvSpPr/>
          <p:nvPr/>
        </p:nvSpPr>
        <p:spPr>
          <a:xfrm>
            <a:off x="1" y="2534265"/>
            <a:ext cx="6095999" cy="894735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/>
            <a:r>
              <a:rPr lang="es-419" sz="5000" b="1" dirty="0">
                <a:ln w="22225">
                  <a:solidFill>
                    <a:srgbClr val="00965F"/>
                  </a:solidFill>
                  <a:prstDash val="solid"/>
                </a:ln>
                <a:solidFill>
                  <a:srgbClr val="00965F"/>
                </a:solidFill>
                <a:latin typeface="Cooper Black" panose="020F0502020204030204" pitchFamily="18" charset="0"/>
              </a:rPr>
              <a:t>¿PREGUNTAS?</a:t>
            </a:r>
            <a:endParaRPr lang="es-ES" sz="5000" b="1" cap="none" spc="0" dirty="0">
              <a:ln w="22225">
                <a:solidFill>
                  <a:srgbClr val="00965F"/>
                </a:solidFill>
                <a:prstDash val="solid"/>
              </a:ln>
              <a:solidFill>
                <a:srgbClr val="00965F"/>
              </a:solidFill>
              <a:effectLst/>
              <a:latin typeface="Cooper Black" panose="020F0502020204030204" pitchFamily="18" charset="0"/>
            </a:endParaRPr>
          </a:p>
        </p:txBody>
      </p:sp>
      <p:pic>
        <p:nvPicPr>
          <p:cNvPr id="3" name="Imagen 2" descr="Imagen que contiene a rayas, hombre, computadora, tabla&#10;&#10;El contenido generado por IA puede ser incorrecto.">
            <a:extLst>
              <a:ext uri="{FF2B5EF4-FFF2-40B4-BE49-F238E27FC236}">
                <a16:creationId xmlns:a16="http://schemas.microsoft.com/office/drawing/2014/main" id="{2A958066-F4A6-873C-5DD8-FB5E28B78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1361843"/>
            <a:ext cx="4076139" cy="322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403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374</TotalTime>
  <Words>388</Words>
  <Application>Microsoft Office PowerPoint</Application>
  <PresentationFormat>Panorámica</PresentationFormat>
  <Paragraphs>87</Paragraphs>
  <Slides>15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Cooper Black</vt:lpstr>
      <vt:lpstr>Times New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Martinez</dc:creator>
  <cp:lastModifiedBy>Carlos Martinez</cp:lastModifiedBy>
  <cp:revision>7</cp:revision>
  <dcterms:created xsi:type="dcterms:W3CDTF">2025-05-12T13:44:05Z</dcterms:created>
  <dcterms:modified xsi:type="dcterms:W3CDTF">2025-05-13T21:25:23Z</dcterms:modified>
</cp:coreProperties>
</file>