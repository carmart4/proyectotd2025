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65F"/>
    <a:srgbClr val="7FCA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1B80E0-2FA0-4660-8D5F-4F957D0CB245}" type="datetimeFigureOut">
              <a:rPr lang="es-ES" smtClean="0"/>
              <a:t>12/05/2025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083362-505C-4A16-9E65-761B39B9C0B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46993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83362-505C-4A16-9E65-761B39B9C0B3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7088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18E7C-70AD-97FD-7D4D-59859D362C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9C4E19-1498-5E8D-BF2B-9541A0D511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2E121BF-F73C-3A3D-36F4-4DC35CEDF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3AB0B-222F-4DB0-ADC9-B2167430BF50}" type="datetime1">
              <a:rPr lang="es-ES" smtClean="0"/>
              <a:t>12/05/2025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7FD066-6238-C2BD-E18C-E96E280DF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Mini Proyecto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991940-C2F5-7E8B-9DA7-8741A7BD7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FD16-40BC-4790-95C3-D9FCA59BD7C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00569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40348251-415C-C771-47E6-D0AC3DE8D5CE}"/>
              </a:ext>
            </a:extLst>
          </p:cNvPr>
          <p:cNvSpPr/>
          <p:nvPr userDrawn="1"/>
        </p:nvSpPr>
        <p:spPr>
          <a:xfrm>
            <a:off x="685800" y="6171520"/>
            <a:ext cx="11506200" cy="685799"/>
          </a:xfrm>
          <a:prstGeom prst="rect">
            <a:avLst/>
          </a:prstGeom>
          <a:solidFill>
            <a:srgbClr val="0096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88E0528-A43F-6CEE-340F-D47471108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64C1BC-5826-71EA-CB7C-B1C7EBBD54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BE4A5ED-DC67-ED70-878B-3871D48F1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03AE7-BB3E-48DA-89E5-0943B3B46801}" type="datetime1">
              <a:rPr lang="es-ES" smtClean="0"/>
              <a:t>12/05/2025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9B20C35-4C00-596C-115C-9BB34C4B9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lang="es-ES" sz="1600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dirty="0"/>
              <a:t>Mini Proyecto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D8C6AA9-3279-D7F8-1B6B-FA7F2812F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7CCFD16-40BC-4790-95C3-D9FCA59BD7C9}" type="slidenum">
              <a:rPr lang="es-ES" smtClean="0"/>
              <a:pPr/>
              <a:t>‹Nº›</a:t>
            </a:fld>
            <a:endParaRPr lang="es-ES" dirty="0"/>
          </a:p>
        </p:txBody>
      </p:sp>
      <p:pic>
        <p:nvPicPr>
          <p:cNvPr id="8" name="Imagen 7" descr="Icono&#10;&#10;El contenido generado por IA puede ser incorrecto.">
            <a:extLst>
              <a:ext uri="{FF2B5EF4-FFF2-40B4-BE49-F238E27FC236}">
                <a16:creationId xmlns:a16="http://schemas.microsoft.com/office/drawing/2014/main" id="{9402BA58-E8C3-C476-E026-A066519021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72200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597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B12C65-D590-1A34-7201-25817A799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7ADA8A2-6CCA-A1BD-9EC4-77C96D356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7701681-E367-ACFD-D0D5-6329EDD18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AA296-26B6-48CC-B5E2-ED5B7F74E46E}" type="datetime1">
              <a:rPr lang="es-ES" smtClean="0"/>
              <a:t>12/05/2025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0BC641-1F97-A9A8-0C47-88903E5D7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Mini Proyecto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9644DFC-C471-BBF9-A6E4-3BDEA0E85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FD16-40BC-4790-95C3-D9FCA59BD7C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36781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4E7C06-CE72-A44D-E37F-22F0D10D4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23412DC-3EF2-DC74-983A-3F136E8FAE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B153080-1657-1204-3615-D55B425506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1E3F53F-B8E3-6A56-D88D-68DBDA1CF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FE526-78A4-45FE-85D2-48F854AC25EB}" type="datetime1">
              <a:rPr lang="es-ES" smtClean="0"/>
              <a:t>12/05/2025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697F8E-0996-8020-5669-ABA105AD7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Mini Proyecto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2AD1826-2E27-7BAF-CC98-165DE2811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FD16-40BC-4790-95C3-D9FCA59BD7C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28445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663BCD-CD0E-55C4-7254-14A46EC01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09D7557-278A-0634-A362-F690F9807C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BD528B4-B72A-FA6D-7E25-B4432A0361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612F0CA-7A30-F6CE-1802-00647EE1C6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E2F70E5-ACDA-82C1-F616-05495A0E7D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B8A1463-9857-58AC-C775-EA79DD25E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F1B9E-ED96-402A-A0A5-D7D0129D2590}" type="datetime1">
              <a:rPr lang="es-ES" smtClean="0"/>
              <a:t>12/05/2025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E8F2B19-9549-0857-6CBE-F5A586F67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Mini Proyecto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D288FBE-4123-3BCA-776D-073BE09CA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FD16-40BC-4790-95C3-D9FCA59BD7C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85473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50AAA5-93DF-9421-D87C-EB9D0919D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227C65B-7492-9CE5-7F69-211CA2C38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D918A-A1FA-4CF3-84F4-FBACE0E64B02}" type="datetime1">
              <a:rPr lang="es-ES" smtClean="0"/>
              <a:t>12/05/2025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6DA274F-E5D1-5FA5-B5BD-401BA16F1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Mini Proyecto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1009A6B-170D-8AF9-27DC-45711A695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FD16-40BC-4790-95C3-D9FCA59BD7C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131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E023DE5-4DD1-6010-01EC-D2839B573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D7788-CE1E-44AD-B7D7-1BC7EC977E65}" type="datetime1">
              <a:rPr lang="es-ES" smtClean="0"/>
              <a:t>12/05/2025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49A6E64-9A3D-4AC3-DD5C-56D063357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Mini Proyecto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1CFE703-FAA9-31C0-3F9B-9A51D511F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FD16-40BC-4790-95C3-D9FCA59BD7C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97435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ED7FDA-F5CC-B2C5-1DE5-907FABA8B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BFC2EA-EBBB-34B5-A342-0E87F4F13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50DAB9F-ACEE-2514-F3C4-23AABBEC54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155D29C-0A5B-3568-44B2-F776781B9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4CFBC-9A35-472A-8EFF-AD55C9488815}" type="datetime1">
              <a:rPr lang="es-ES" smtClean="0"/>
              <a:t>12/05/2025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4BA3C0D-1EE0-368B-CBA9-B99C2966C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Mini Proyecto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90E135-DF49-28E0-23B9-99A3D3185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FD16-40BC-4790-95C3-D9FCA59BD7C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86505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9599D7-4A79-A6C7-8526-0F0B65A7A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C130BB-3E71-8D64-F83C-5275096F54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5FDAA28-DB47-C126-C9E2-C239161558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125E871-F7F1-B6C7-876F-5499859D6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9474E-732D-47ED-88BE-733A0AC2EA6B}" type="datetime1">
              <a:rPr lang="es-ES" smtClean="0"/>
              <a:t>12/05/2025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4C50BFD-7D59-5D3B-A745-47CBB1629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Mini Proyecto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8B4B705-1466-03E1-92E4-6963A485B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FD16-40BC-4790-95C3-D9FCA59BD7C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4163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8AE1C1-6BCA-8DB1-D188-E8CF46DE1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5511A16-7F9B-31DA-0E68-800F7C5E4A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E0B86C1-48C6-7CDC-305D-18281845B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1A03F-1140-4EC3-825A-64621D76B6D4}" type="datetime1">
              <a:rPr lang="es-ES" smtClean="0"/>
              <a:t>12/05/2025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ACCE3B5-6E71-4D10-4623-66CDA05D0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Mini Proyecto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2F5388-956E-1ED5-CD14-CDFEA13CA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FD16-40BC-4790-95C3-D9FCA59BD7C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9303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8703B30-BBB1-78A4-A7E6-A496DB6460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88E514F-C2F1-72BB-36DB-EBC56106C5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D56835-50E6-CE52-A6DA-AFBD0CF75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A3F48-89E8-499E-831F-03DB54D9BBB5}" type="datetime1">
              <a:rPr lang="es-ES" smtClean="0"/>
              <a:t>12/05/2025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EC484CF-7638-317A-03C9-E4E93825C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Mini Proyecto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2B8714-FF49-69FA-9AE9-E69678BA2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FD16-40BC-4790-95C3-D9FCA59BD7C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46308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B0FF44C-7C1D-7F11-DDB3-009E3F340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DEC52A-DBC6-287E-1E38-8EAFD2B78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27D6F8-34A1-4EE9-8A50-3068079611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6B8964-A04A-4168-BCAC-72BBFA244AE7}" type="datetime1">
              <a:rPr lang="es-ES" smtClean="0"/>
              <a:t>12/05/2025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CD0BCA-A6F1-F771-9F08-84BDA1EE3F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s-ES"/>
              <a:t>Mini Proyecto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1554458-37B8-25E2-5606-01141FE514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CCFD16-40BC-4790-95C3-D9FCA59BD7C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2983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upo 13">
            <a:extLst>
              <a:ext uri="{FF2B5EF4-FFF2-40B4-BE49-F238E27FC236}">
                <a16:creationId xmlns:a16="http://schemas.microsoft.com/office/drawing/2014/main" id="{2954E580-DF5F-3475-2A34-FB3BB40B1565}"/>
              </a:ext>
            </a:extLst>
          </p:cNvPr>
          <p:cNvGrpSpPr/>
          <p:nvPr/>
        </p:nvGrpSpPr>
        <p:grpSpPr>
          <a:xfrm>
            <a:off x="501543" y="1894114"/>
            <a:ext cx="11179629" cy="1940687"/>
            <a:chOff x="0" y="2348282"/>
            <a:chExt cx="12192000" cy="2161435"/>
          </a:xfrm>
        </p:grpSpPr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9BE5D4D2-8094-16F3-A455-40D7E5C08C04}"/>
                </a:ext>
              </a:extLst>
            </p:cNvPr>
            <p:cNvSpPr/>
            <p:nvPr/>
          </p:nvSpPr>
          <p:spPr>
            <a:xfrm>
              <a:off x="2161435" y="2767279"/>
              <a:ext cx="10030565" cy="1336863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419" sz="7200" b="1" dirty="0">
                  <a:ln w="22225">
                    <a:solidFill>
                      <a:srgbClr val="00965F"/>
                    </a:solidFill>
                    <a:prstDash val="solid"/>
                  </a:ln>
                  <a:solidFill>
                    <a:srgbClr val="00965F"/>
                  </a:solidFill>
                  <a:latin typeface="Cooper Black" panose="020F0502020204030204" pitchFamily="18" charset="0"/>
                </a:rPr>
                <a:t>MINI PROYECTO</a:t>
              </a:r>
              <a:endParaRPr lang="es-ES" sz="7200" b="1" cap="none" spc="0" dirty="0">
                <a:ln w="22225">
                  <a:solidFill>
                    <a:srgbClr val="00965F"/>
                  </a:solidFill>
                  <a:prstDash val="solid"/>
                </a:ln>
                <a:solidFill>
                  <a:srgbClr val="00965F"/>
                </a:solidFill>
                <a:effectLst/>
                <a:latin typeface="Cooper Black" panose="020F0502020204030204" pitchFamily="18" charset="0"/>
              </a:endParaRPr>
            </a:p>
          </p:txBody>
        </p:sp>
        <p:pic>
          <p:nvPicPr>
            <p:cNvPr id="13" name="Imagen 12" descr="Icono&#10;&#10;El contenido generado por IA puede ser incorrecto.">
              <a:extLst>
                <a:ext uri="{FF2B5EF4-FFF2-40B4-BE49-F238E27FC236}">
                  <a16:creationId xmlns:a16="http://schemas.microsoft.com/office/drawing/2014/main" id="{FCA3365E-770C-D809-B337-D38AD78780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2348282"/>
              <a:ext cx="2161435" cy="2161435"/>
            </a:xfrm>
            <a:prstGeom prst="rect">
              <a:avLst/>
            </a:prstGeom>
          </p:spPr>
        </p:pic>
      </p:grpSp>
      <p:sp>
        <p:nvSpPr>
          <p:cNvPr id="17" name="Rectangle 1">
            <a:extLst>
              <a:ext uri="{FF2B5EF4-FFF2-40B4-BE49-F238E27FC236}">
                <a16:creationId xmlns:a16="http://schemas.microsoft.com/office/drawing/2014/main" id="{09A3703C-0E5F-D442-4AD3-FAD35C1D28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7261" y="4188849"/>
            <a:ext cx="2068194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Neus Ferrer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Marta Navarro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Alba Rodríguez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Mohammed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Aissa</a:t>
            </a: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Héctor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Balbastre</a:t>
            </a: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Joan Ruiz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Santiago Martinez</a:t>
            </a: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5834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B913D98-E958-BF34-0704-FD46D3F08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Mini Proyecto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1AF81DB-9683-5FD0-32E4-6F52F1026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FD16-40BC-4790-95C3-D9FCA59BD7C9}" type="slidenum">
              <a:rPr lang="es-ES" smtClean="0"/>
              <a:pPr/>
              <a:t>2</a:t>
            </a:fld>
            <a:endParaRPr lang="es-ES" dirty="0"/>
          </a:p>
        </p:txBody>
      </p:sp>
      <p:pic>
        <p:nvPicPr>
          <p:cNvPr id="11" name="Marcador de contenido 10" descr="Texto&#10;&#10;El contenido generado por IA puede ser incorrecto.">
            <a:extLst>
              <a:ext uri="{FF2B5EF4-FFF2-40B4-BE49-F238E27FC236}">
                <a16:creationId xmlns:a16="http://schemas.microsoft.com/office/drawing/2014/main" id="{B29C65DF-A8F5-66F2-A2B4-6989C77951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7178" y="215570"/>
            <a:ext cx="5917644" cy="5913087"/>
          </a:xfrm>
        </p:spPr>
      </p:pic>
    </p:spTree>
    <p:extLst>
      <p:ext uri="{BB962C8B-B14F-4D97-AF65-F5344CB8AC3E}">
        <p14:creationId xmlns:p14="http://schemas.microsoft.com/office/powerpoint/2010/main" val="3159337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38377CD-7F5C-8770-A3A5-BB7BD667B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Mini Proyecto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CB9C6C5-6230-0CD0-390A-DF2E98E05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FD16-40BC-4790-95C3-D9FCA59BD7C9}" type="slidenum">
              <a:rPr lang="es-ES" smtClean="0"/>
              <a:pPr/>
              <a:t>3</a:t>
            </a:fld>
            <a:endParaRPr lang="es-ES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C607BB8-92C8-AD87-4D35-40C00878FCEE}"/>
              </a:ext>
            </a:extLst>
          </p:cNvPr>
          <p:cNvSpPr/>
          <p:nvPr/>
        </p:nvSpPr>
        <p:spPr>
          <a:xfrm>
            <a:off x="-1273629" y="419553"/>
            <a:ext cx="7238999" cy="86177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419" sz="5000" b="1" dirty="0">
                <a:ln w="22225">
                  <a:solidFill>
                    <a:srgbClr val="00965F"/>
                  </a:solidFill>
                  <a:prstDash val="solid"/>
                </a:ln>
                <a:solidFill>
                  <a:srgbClr val="00965F"/>
                </a:solidFill>
                <a:latin typeface="Cooper Black" panose="020F0502020204030204" pitchFamily="18" charset="0"/>
              </a:rPr>
              <a:t>ÍNDICE</a:t>
            </a:r>
            <a:endParaRPr lang="es-ES" sz="5000" b="1" cap="none" spc="0" dirty="0">
              <a:ln w="22225">
                <a:solidFill>
                  <a:srgbClr val="00965F"/>
                </a:solidFill>
                <a:prstDash val="solid"/>
              </a:ln>
              <a:solidFill>
                <a:srgbClr val="00965F"/>
              </a:solidFill>
              <a:effectLst/>
              <a:latin typeface="Cooper Black" panose="020F05020202040302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A9D05B7-8148-970C-C22D-167BC79EC1FA}"/>
              </a:ext>
            </a:extLst>
          </p:cNvPr>
          <p:cNvSpPr txBox="1"/>
          <p:nvPr/>
        </p:nvSpPr>
        <p:spPr>
          <a:xfrm>
            <a:off x="1099457" y="1572069"/>
            <a:ext cx="587828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419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Introducción 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Análisis ticket 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Análisis productos </a:t>
            </a:r>
          </a:p>
          <a:p>
            <a:pPr marL="800100" lvl="1" indent="-342900">
              <a:buFont typeface="+mj-lt"/>
              <a:buAutoNum type="arabicPeriod"/>
            </a:pPr>
            <a:r>
              <a:rPr lang="es-419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Preguntas planteadas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Conclusiones</a:t>
            </a:r>
          </a:p>
        </p:txBody>
      </p:sp>
    </p:spTree>
    <p:extLst>
      <p:ext uri="{BB962C8B-B14F-4D97-AF65-F5344CB8AC3E}">
        <p14:creationId xmlns:p14="http://schemas.microsoft.com/office/powerpoint/2010/main" val="336396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9C11F7-C57A-EEC2-46EE-23AE9E2E4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Introducción.</a:t>
            </a:r>
            <a:endParaRPr lang="es-E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Marcador de contenido 6" descr="Imagen de la pantalla de un celular de un mensaje en letras negras&#10;&#10;El contenido generado por IA puede ser incorrecto.">
            <a:extLst>
              <a:ext uri="{FF2B5EF4-FFF2-40B4-BE49-F238E27FC236}">
                <a16:creationId xmlns:a16="http://schemas.microsoft.com/office/drawing/2014/main" id="{4C61F77A-62FB-06A7-9557-72268B9A6A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453"/>
          <a:stretch/>
        </p:blipFill>
        <p:spPr>
          <a:xfrm>
            <a:off x="4652991" y="971589"/>
            <a:ext cx="2886017" cy="4914821"/>
          </a:xfrm>
        </p:spPr>
      </p:pic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A3AB84F-FC0E-79ED-2AA2-CCF2B4172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Mini Proyecto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4EF5044-A1DD-0A16-78FB-64AFC25C1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FD16-40BC-4790-95C3-D9FCA59BD7C9}" type="slidenum">
              <a:rPr lang="es-ES" smtClean="0"/>
              <a:pPr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54407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B63943-A4BA-B93C-B1BB-37552196A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33907"/>
            <a:ext cx="10515600" cy="1325563"/>
          </a:xfrm>
        </p:spPr>
        <p:txBody>
          <a:bodyPr/>
          <a:lstStyle/>
          <a:p>
            <a:r>
              <a:rPr lang="es-4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Preguntas planteadas.</a:t>
            </a:r>
            <a:endParaRPr lang="es-E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18F49F-1CEF-CBAF-C848-19CC8B385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0484"/>
            <a:ext cx="10515600" cy="4351338"/>
          </a:xfrm>
        </p:spPr>
        <p:txBody>
          <a:bodyPr>
            <a:normAutofit/>
          </a:bodyPr>
          <a:lstStyle/>
          <a:p>
            <a:r>
              <a:rPr lang="es-E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¿Qué combinaciones de productos se compran con mayor frecuencia en una misma factura?</a:t>
            </a:r>
          </a:p>
          <a:p>
            <a:pPr lvl="1"/>
            <a:endParaRPr lang="es-E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1B6AEC8-5B82-3602-7A88-F06CCB5CD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Mini Proyecto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E7B9A47-0243-A532-EE15-B285E747A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FD16-40BC-4790-95C3-D9FCA59BD7C9}" type="slidenum">
              <a:rPr lang="es-ES" smtClean="0"/>
              <a:pPr/>
              <a:t>5</a:t>
            </a:fld>
            <a:endParaRPr lang="es-ES" dirty="0"/>
          </a:p>
        </p:txBody>
      </p:sp>
      <p:pic>
        <p:nvPicPr>
          <p:cNvPr id="7" name="Imagen 6" descr="Gráfico, Gráfico de cajas y bigotes&#10;&#10;El contenido generado por IA puede ser incorrecto.">
            <a:extLst>
              <a:ext uri="{FF2B5EF4-FFF2-40B4-BE49-F238E27FC236}">
                <a16:creationId xmlns:a16="http://schemas.microsoft.com/office/drawing/2014/main" id="{FC07CE0F-8B77-4E64-3C52-1A86D4AE09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594" y="1657140"/>
            <a:ext cx="4540186" cy="4540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876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240DA3-36E2-CBFC-255E-869FB5E0C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s-4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Preguntas planteadas.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9A0FCD-84D6-C30A-8D27-31BDF0247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7410"/>
            <a:ext cx="10515600" cy="4351338"/>
          </a:xfrm>
        </p:spPr>
        <p:txBody>
          <a:bodyPr>
            <a:normAutofit/>
          </a:bodyPr>
          <a:lstStyle/>
          <a:p>
            <a:pPr algn="l"/>
            <a:r>
              <a:rPr lang="es-E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¿Qué productos mantienen un volumen de ventas estable, independientemente de cambios en su precio unitario?</a:t>
            </a:r>
            <a:endParaRPr lang="es-E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D915A5C-562C-9028-65B8-C9854FD74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Mini Proyecto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53B34DB-5513-8B4D-1A4C-D419A7274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FD16-40BC-4790-95C3-D9FCA59BD7C9}" type="slidenum">
              <a:rPr lang="es-ES" smtClean="0"/>
              <a:pPr/>
              <a:t>6</a:t>
            </a:fld>
            <a:endParaRPr lang="es-ES" dirty="0"/>
          </a:p>
        </p:txBody>
      </p:sp>
      <p:pic>
        <p:nvPicPr>
          <p:cNvPr id="7" name="Imagen 6" descr="Gráfico, Diagrama, Gráfico de rectángulos&#10;&#10;El contenido generado por IA puede ser incorrecto.">
            <a:extLst>
              <a:ext uri="{FF2B5EF4-FFF2-40B4-BE49-F238E27FC236}">
                <a16:creationId xmlns:a16="http://schemas.microsoft.com/office/drawing/2014/main" id="{5601022E-D22B-2E25-31A6-E07E7AEB0D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9008" y="1977086"/>
            <a:ext cx="4013984" cy="4013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315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A27815-CA71-B16C-D281-3651B8A21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s-4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Preguntas planteadas.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5F91E4-DB39-D6E1-656F-FBC8F8044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1307"/>
            <a:ext cx="10515600" cy="4351338"/>
          </a:xfrm>
        </p:spPr>
        <p:txBody>
          <a:bodyPr>
            <a:normAutofit/>
          </a:bodyPr>
          <a:lstStyle/>
          <a:p>
            <a:pPr algn="l"/>
            <a:r>
              <a:rPr lang="es-E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¿Cuál es el número promedio de tickets por hora y el gasto promedio por compra, según el día y la hora?</a:t>
            </a:r>
            <a:endParaRPr lang="es-E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8F263F0-54E5-6189-26F5-57BD709D2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Mini Proyecto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2641850-05E3-DAB2-4BC1-584533388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FD16-40BC-4790-95C3-D9FCA59BD7C9}" type="slidenum">
              <a:rPr lang="es-ES" smtClean="0"/>
              <a:pPr/>
              <a:t>7</a:t>
            </a:fld>
            <a:endParaRPr lang="es-ES" dirty="0"/>
          </a:p>
        </p:txBody>
      </p:sp>
      <p:pic>
        <p:nvPicPr>
          <p:cNvPr id="7" name="Imagen 6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A318844A-BCE8-6F61-A45A-883511680F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207" y="2154725"/>
            <a:ext cx="5335967" cy="3293806"/>
          </a:xfrm>
          <a:prstGeom prst="rect">
            <a:avLst/>
          </a:prstGeom>
        </p:spPr>
      </p:pic>
      <p:pic>
        <p:nvPicPr>
          <p:cNvPr id="9" name="Imagen 8" descr="Gráfico&#10;&#10;El contenido generado por IA puede ser incorrecto.">
            <a:extLst>
              <a:ext uri="{FF2B5EF4-FFF2-40B4-BE49-F238E27FC236}">
                <a16:creationId xmlns:a16="http://schemas.microsoft.com/office/drawing/2014/main" id="{DDF13F9D-EFB1-5817-34F0-B2A8A52979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7261" y="2154725"/>
            <a:ext cx="6113532" cy="3773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907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EC7316-74DE-F572-3BE4-1765DF7B9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6637"/>
            <a:ext cx="10515600" cy="1325563"/>
          </a:xfrm>
        </p:spPr>
        <p:txBody>
          <a:bodyPr>
            <a:normAutofit/>
          </a:bodyPr>
          <a:lstStyle/>
          <a:p>
            <a:r>
              <a:rPr lang="es-E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¿Qué patrones de compra se observan hacia inicio/fin de mes? ¿Cuántas compras incluyen parking?</a:t>
            </a:r>
            <a:br>
              <a:rPr lang="es-E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sz="2800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0FFA7A8-247D-B652-7FAF-6D2215912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Mini Proyecto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EBEC69F-F787-112C-D408-A28F9E251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FD16-40BC-4790-95C3-D9FCA59BD7C9}" type="slidenum">
              <a:rPr lang="es-ES" smtClean="0"/>
              <a:pPr/>
              <a:t>8</a:t>
            </a:fld>
            <a:endParaRPr lang="es-ES" dirty="0"/>
          </a:p>
        </p:txBody>
      </p:sp>
      <p:pic>
        <p:nvPicPr>
          <p:cNvPr id="7" name="Imagen 6" descr="Gráfico&#10;&#10;El contenido generado por IA puede ser incorrecto.">
            <a:extLst>
              <a:ext uri="{FF2B5EF4-FFF2-40B4-BE49-F238E27FC236}">
                <a16:creationId xmlns:a16="http://schemas.microsoft.com/office/drawing/2014/main" id="{5E5FCE37-4709-F23D-1009-D59604F779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744" y="1102015"/>
            <a:ext cx="3582902" cy="2326985"/>
          </a:xfrm>
          <a:prstGeom prst="rect">
            <a:avLst/>
          </a:prstGeom>
        </p:spPr>
      </p:pic>
      <p:pic>
        <p:nvPicPr>
          <p:cNvPr id="9" name="Imagen 8" descr="Gráfico&#10;&#10;El contenido generado por IA puede ser incorrecto.">
            <a:extLst>
              <a:ext uri="{FF2B5EF4-FFF2-40B4-BE49-F238E27FC236}">
                <a16:creationId xmlns:a16="http://schemas.microsoft.com/office/drawing/2014/main" id="{32709671-3276-A6C5-F018-1AB18AC99E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1739" y="779418"/>
            <a:ext cx="3582902" cy="2540518"/>
          </a:xfrm>
          <a:prstGeom prst="rect">
            <a:avLst/>
          </a:prstGeom>
        </p:spPr>
      </p:pic>
      <p:pic>
        <p:nvPicPr>
          <p:cNvPr id="11" name="Imagen 10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BF17419F-659E-221B-124B-A0FFFC3C27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7662" y="3319936"/>
            <a:ext cx="3279065" cy="2540518"/>
          </a:xfrm>
          <a:prstGeom prst="rect">
            <a:avLst/>
          </a:prstGeom>
        </p:spPr>
      </p:pic>
      <p:pic>
        <p:nvPicPr>
          <p:cNvPr id="13" name="Imagen 12" descr="Gráfico&#10;&#10;El contenido generado por IA puede ser incorrecto.">
            <a:extLst>
              <a:ext uri="{FF2B5EF4-FFF2-40B4-BE49-F238E27FC236}">
                <a16:creationId xmlns:a16="http://schemas.microsoft.com/office/drawing/2014/main" id="{4EC4666E-8962-3059-62AF-B7FCC0A19E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1739" y="3241505"/>
            <a:ext cx="3279064" cy="2697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055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4E7235-2E11-867B-4090-2B736583A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542" y="0"/>
            <a:ext cx="10515600" cy="1325563"/>
          </a:xfrm>
        </p:spPr>
        <p:txBody>
          <a:bodyPr/>
          <a:lstStyle/>
          <a:p>
            <a:r>
              <a:rPr lang="es-4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Preguntas planteadas.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9D07E60-E40D-566C-6875-4F48D9EC8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542" y="1054495"/>
            <a:ext cx="10515600" cy="4351338"/>
          </a:xfrm>
        </p:spPr>
        <p:txBody>
          <a:bodyPr>
            <a:normAutofit/>
          </a:bodyPr>
          <a:lstStyle/>
          <a:p>
            <a:pPr algn="l"/>
            <a:r>
              <a:rPr lang="es-E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¿Cuáles son los 5 productos, de los vendidos por unidades, con más ventas? ¿Cuántas unidades de cada uno se han vendido?</a:t>
            </a:r>
            <a:endParaRPr lang="es-E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4443192-988A-EEEF-4918-7E2C31F37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Mini Proyecto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E1AE1CA-A7B1-A35C-AF62-E202AAE4D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FD16-40BC-4790-95C3-D9FCA59BD7C9}" type="slidenum">
              <a:rPr lang="es-ES" smtClean="0"/>
              <a:pPr/>
              <a:t>9</a:t>
            </a:fld>
            <a:endParaRPr lang="es-ES" dirty="0"/>
          </a:p>
        </p:txBody>
      </p:sp>
      <p:pic>
        <p:nvPicPr>
          <p:cNvPr id="7" name="Imagen 6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B0D5DC96-EDFA-8ADC-CC07-AF80E465E8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957" y="1927347"/>
            <a:ext cx="3876158" cy="3876158"/>
          </a:xfrm>
          <a:prstGeom prst="rect">
            <a:avLst/>
          </a:prstGeom>
        </p:spPr>
      </p:pic>
      <p:pic>
        <p:nvPicPr>
          <p:cNvPr id="11" name="Imagen 10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0049601F-B0B9-515A-70F6-43AC78ED68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7134" y="2380058"/>
            <a:ext cx="5552593" cy="3130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202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68F57F-E595-ACD9-C6C7-3D8CB72BC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79488"/>
            <a:ext cx="10515600" cy="1325563"/>
          </a:xfrm>
        </p:spPr>
        <p:txBody>
          <a:bodyPr/>
          <a:lstStyle/>
          <a:p>
            <a:r>
              <a:rPr lang="es-4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Preguntas planteadas.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D10A33B-95BF-6708-C9B6-CEA1D2649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6201"/>
            <a:ext cx="10515600" cy="4351338"/>
          </a:xfrm>
        </p:spPr>
        <p:txBody>
          <a:bodyPr>
            <a:normAutofit/>
          </a:bodyPr>
          <a:lstStyle/>
          <a:p>
            <a:pPr algn="l"/>
            <a:r>
              <a:rPr lang="es-E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 consideramos la categoría de FRUTAS Y VERDURAS, ¿cuáles son los 5 productos más vendidos?</a:t>
            </a:r>
          </a:p>
          <a:p>
            <a:pPr marL="0" indent="0" algn="l">
              <a:buNone/>
            </a:pPr>
            <a:r>
              <a:rPr lang="es-E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¿Cuántos kilos se han vendido de cada uno de estos productos?</a:t>
            </a:r>
            <a:endParaRPr lang="es-E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DD09F14-968D-ABF1-1EA4-3801972F7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Mini Proyecto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8ABB47D-287D-7819-5024-7421714F1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FD16-40BC-4790-95C3-D9FCA59BD7C9}" type="slidenum">
              <a:rPr lang="es-ES" smtClean="0"/>
              <a:pPr/>
              <a:t>10</a:t>
            </a:fld>
            <a:endParaRPr lang="es-ES" dirty="0"/>
          </a:p>
        </p:txBody>
      </p:sp>
      <p:pic>
        <p:nvPicPr>
          <p:cNvPr id="7" name="Imagen 6" descr="Gráfico, Gráfico de embudo&#10;&#10;El contenido generado por IA puede ser incorrecto.">
            <a:extLst>
              <a:ext uri="{FF2B5EF4-FFF2-40B4-BE49-F238E27FC236}">
                <a16:creationId xmlns:a16="http://schemas.microsoft.com/office/drawing/2014/main" id="{1C86AA5A-DF40-4B5A-5A2A-1CDD830399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070" y="2275770"/>
            <a:ext cx="3676029" cy="3676029"/>
          </a:xfrm>
          <a:prstGeom prst="rect">
            <a:avLst/>
          </a:prstGeom>
        </p:spPr>
      </p:pic>
      <p:pic>
        <p:nvPicPr>
          <p:cNvPr id="8" name="Imagen 7" descr="Interfaz de usuario gráfica, Aplicación, Teams&#10;&#10;El contenido generado por IA puede ser incorrecto.">
            <a:extLst>
              <a:ext uri="{FF2B5EF4-FFF2-40B4-BE49-F238E27FC236}">
                <a16:creationId xmlns:a16="http://schemas.microsoft.com/office/drawing/2014/main" id="{EDA9DC3A-A210-26E8-F3D8-88504C2063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0712" y="2562434"/>
            <a:ext cx="4905375" cy="283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6903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C81A7F-E746-FAD9-0A5C-DDB1F9736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s-4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Preguntas planteadas.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A0B18F-6CF4-B930-3DB4-AAC91F6801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6879"/>
            <a:ext cx="10515600" cy="4351338"/>
          </a:xfrm>
        </p:spPr>
        <p:txBody>
          <a:bodyPr>
            <a:normAutofit/>
          </a:bodyPr>
          <a:lstStyle/>
          <a:p>
            <a:pPr algn="l"/>
            <a:r>
              <a:rPr lang="es-E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 consideramos la categoría de PESCADO, ¿Cuáles son los 5 productos más vendidos? ¿Cuántos kilos se han vendido de cada uno de estos productos?</a:t>
            </a:r>
            <a:endParaRPr lang="es-E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A1D855A-52B2-9B97-68E6-F9120D866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Mini Proyecto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392A84E-75F6-8311-82E4-E1D31C814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FD16-40BC-4790-95C3-D9FCA59BD7C9}" type="slidenum">
              <a:rPr lang="es-ES" smtClean="0"/>
              <a:pPr/>
              <a:t>11</a:t>
            </a:fld>
            <a:endParaRPr lang="es-E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6B8F4AD-3776-E1A3-4357-EE62794B7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829" y="2372442"/>
            <a:ext cx="9054342" cy="2637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221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03DAC2-3A62-36AD-6E55-69863CBD4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s-4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Preguntas planteadas.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371D1A-7A38-2C3F-C428-E62A7FD441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6088"/>
            <a:ext cx="10515600" cy="4351338"/>
          </a:xfrm>
        </p:spPr>
        <p:txBody>
          <a:bodyPr>
            <a:normAutofit/>
          </a:bodyPr>
          <a:lstStyle/>
          <a:p>
            <a:pPr algn="l"/>
            <a:r>
              <a:rPr lang="es-E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Muestra mediante un gráfico de líneas como ha variado el precio por kilo de las bananas y los plátanos en los tickets disponibles, a lo largo del tiempo.</a:t>
            </a:r>
            <a:endParaRPr lang="es-E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B3C68A5-04C0-A6F5-F810-CCCB486E1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Mini Proyecto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E7A77EE-F2ED-6C6F-78E2-704040774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FD16-40BC-4790-95C3-D9FCA59BD7C9}" type="slidenum">
              <a:rPr lang="es-ES" smtClean="0"/>
              <a:pPr/>
              <a:t>12</a:t>
            </a:fld>
            <a:endParaRPr lang="es-ES" dirty="0"/>
          </a:p>
        </p:txBody>
      </p:sp>
      <p:pic>
        <p:nvPicPr>
          <p:cNvPr id="7" name="Imagen 6" descr="Diagrama&#10;&#10;El contenido generado por IA puede ser incorrecto.">
            <a:extLst>
              <a:ext uri="{FF2B5EF4-FFF2-40B4-BE49-F238E27FC236}">
                <a16:creationId xmlns:a16="http://schemas.microsoft.com/office/drawing/2014/main" id="{99B815A9-557F-E2E4-8DCC-2030C7FCAA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9644" y="1787768"/>
            <a:ext cx="4372711" cy="4372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6225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0B8606-ED91-07B8-C9CC-D069A6E92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s-4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Preguntas planteadas.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AB139BA-67A8-5E40-8EE8-F2DD7C8703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6088"/>
            <a:ext cx="10515600" cy="4351338"/>
          </a:xfrm>
        </p:spPr>
        <p:txBody>
          <a:bodyPr>
            <a:normAutofit/>
          </a:bodyPr>
          <a:lstStyle/>
          <a:p>
            <a:r>
              <a:rPr lang="es-E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¿Cuál es la procedencia de los tickets? ¿Qué ciudad/ pueblo tiene un mayor número de tickets?</a:t>
            </a:r>
            <a:endParaRPr lang="es-E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CDF7CF0-1F76-FBC7-863A-B8F88C406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Mini Proyecto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1619FCD-55A0-EE63-4D51-5BD4F9C23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FD16-40BC-4790-95C3-D9FCA59BD7C9}" type="slidenum">
              <a:rPr lang="es-ES" smtClean="0"/>
              <a:pPr/>
              <a:t>13</a:t>
            </a:fld>
            <a:endParaRPr lang="es-ES" dirty="0"/>
          </a:p>
        </p:txBody>
      </p:sp>
      <p:pic>
        <p:nvPicPr>
          <p:cNvPr id="7" name="Imagen 6" descr="Imagen que contiene Diagrama&#10;&#10;El contenido generado por IA puede ser incorrecto.">
            <a:extLst>
              <a:ext uri="{FF2B5EF4-FFF2-40B4-BE49-F238E27FC236}">
                <a16:creationId xmlns:a16="http://schemas.microsoft.com/office/drawing/2014/main" id="{59D54823-76D1-FC86-6761-5C1CE737E8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0835" y="1518534"/>
            <a:ext cx="4449752" cy="4449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4602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0FC65E-9122-0F11-C709-2CAF608B1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90919"/>
            <a:ext cx="10515600" cy="1325563"/>
          </a:xfrm>
        </p:spPr>
        <p:txBody>
          <a:bodyPr/>
          <a:lstStyle/>
          <a:p>
            <a:r>
              <a:rPr lang="es-4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Preguntas planteadas.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DA08F0-32D6-7BB1-8676-1C4DBAD84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8278"/>
            <a:ext cx="10515600" cy="4351338"/>
          </a:xfrm>
        </p:spPr>
        <p:txBody>
          <a:bodyPr>
            <a:normAutofit/>
          </a:bodyPr>
          <a:lstStyle/>
          <a:p>
            <a:pPr algn="l"/>
            <a:r>
              <a:rPr lang="es-E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Muestra mediante un diagrama el número de tickets recogidos cada día de las semana. ¿Si tuvieses que cerrar un día entre semana qué día lo harías?</a:t>
            </a:r>
            <a:endParaRPr lang="es-E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8122CA9-CEFB-A8C3-A381-9132870E6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Mini Proyecto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B68B907-2033-D076-C1BE-DCAE9C888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FD16-40BC-4790-95C3-D9FCA59BD7C9}" type="slidenum">
              <a:rPr lang="es-ES" smtClean="0"/>
              <a:pPr/>
              <a:t>14</a:t>
            </a:fld>
            <a:endParaRPr lang="es-ES" dirty="0"/>
          </a:p>
        </p:txBody>
      </p:sp>
      <p:pic>
        <p:nvPicPr>
          <p:cNvPr id="7" name="Imagen 6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25E9E832-A342-DD7E-0AA2-F6388882F5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935" y="1899652"/>
            <a:ext cx="6544130" cy="4039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559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CBAAC1-DB26-6664-FE99-80535EB78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Conclusiones.</a:t>
            </a:r>
            <a:endParaRPr lang="es-E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170571-36AF-74DB-F8D1-C4366074E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D6235B3-E800-EAF8-7477-E7422058E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Mini Proyecto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7657E57-7447-E0F9-F19B-DAD458B1D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FD16-40BC-4790-95C3-D9FCA59BD7C9}" type="slidenum">
              <a:rPr lang="es-ES" smtClean="0"/>
              <a:pPr/>
              <a:t>15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188810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TM02900688[[fn=Faceta]]</Template>
  <TotalTime>190</TotalTime>
  <Words>344</Words>
  <Application>Microsoft Office PowerPoint</Application>
  <PresentationFormat>Panorámica</PresentationFormat>
  <Paragraphs>65</Paragraphs>
  <Slides>15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Cooper Black</vt:lpstr>
      <vt:lpstr>Times New Roman</vt:lpstr>
      <vt:lpstr>Tema de Office</vt:lpstr>
      <vt:lpstr>Presentación de PowerPoint</vt:lpstr>
      <vt:lpstr>Presentación de PowerPoint</vt:lpstr>
      <vt:lpstr>Presentación de PowerPoint</vt:lpstr>
      <vt:lpstr>Introducción.</vt:lpstr>
      <vt:lpstr>Preguntas planteadas.</vt:lpstr>
      <vt:lpstr>Preguntas planteadas.</vt:lpstr>
      <vt:lpstr>Preguntas planteadas.</vt:lpstr>
      <vt:lpstr>¿Qué patrones de compra se observan hacia inicio/fin de mes? ¿Cuántas compras incluyen parking? </vt:lpstr>
      <vt:lpstr>Preguntas planteadas.</vt:lpstr>
      <vt:lpstr>Preguntas planteadas.</vt:lpstr>
      <vt:lpstr>Preguntas planteadas.</vt:lpstr>
      <vt:lpstr>Preguntas planteadas.</vt:lpstr>
      <vt:lpstr>Preguntas planteadas.</vt:lpstr>
      <vt:lpstr>Preguntas planteadas.</vt:lpstr>
      <vt:lpstr>Conclusiones.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Carlos Martinez</dc:creator>
  <cp:lastModifiedBy>Carlos Martinez</cp:lastModifiedBy>
  <cp:revision>3</cp:revision>
  <dcterms:created xsi:type="dcterms:W3CDTF">2025-05-12T13:44:05Z</dcterms:created>
  <dcterms:modified xsi:type="dcterms:W3CDTF">2025-05-12T17:25:14Z</dcterms:modified>
</cp:coreProperties>
</file>